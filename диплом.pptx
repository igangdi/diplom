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8" r:id="rId15"/>
    <p:sldId id="269" r:id="rId16"/>
    <p:sldId id="270" r:id="rId17"/>
    <p:sldId id="271" r:id="rId18"/>
    <p:sldId id="272" r:id="rId19"/>
    <p:sldId id="273" r:id="rId20"/>
    <p:sldId id="274" r:id="rId21"/>
    <p:sldId id="276" r:id="rId22"/>
    <p:sldId id="277" r:id="rId23"/>
  </p:sldIdLst>
  <p:sldSz cx="16256000" cy="9144000"/>
  <p:notesSz cx="9144000" cy="16256000"/>
  <p:embeddedFontLst>
    <p:embeddedFont>
      <p:font typeface="Calibri" panose="020F0502020204030204" pitchFamily="34" charset="0"/>
      <p:regular r:id="rId25"/>
      <p:bold r:id="rId26"/>
      <p:italic r:id="rId27"/>
      <p:boldItalic r:id="rId28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921" autoAdjust="0"/>
    <p:restoredTop sz="94610"/>
  </p:normalViewPr>
  <p:slideViewPr>
    <p:cSldViewPr snapToGrid="0" snapToObjects="1">
      <p:cViewPr>
        <p:scale>
          <a:sx n="125" d="100"/>
          <a:sy n="125" d="100"/>
        </p:scale>
        <p:origin x="3750" y="19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314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IgangdI/diplom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381000"/>
            <a:ext cx="1397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МИНИСТЕРСТВО ОБРАЗОВАНИЯ И НАУКИ РЕСПУБЛИКИ КОМИ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ГОСУДАРСТВЕННОЕ ПРОФЕССИОНАЛЬНОЕ ОБРАЗОВАТЕЛЬНОЕ УЧРЕЖДЕНИЕ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"ВОРКУТИНСКИЙ АРКТИЧЕСКИЙ ГОРНО-ПОЛИТЕХНИЧЕСКИЙ КОЛЛЕДЖ"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3000" y="3048000"/>
            <a:ext cx="1397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52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ДИПЛОМНЫЙ ПРОЕКТ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778000" y="4064000"/>
            <a:ext cx="1270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ru-RU" sz="3000" i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Разработка информационной системы «Компьютерный магазин» на платформе 1С:Предприятие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890000" y="6731000"/>
            <a:ext cx="622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Руководитель проекта: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Козлова Ольга Николаевна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66000" y="7747000"/>
            <a:ext cx="7747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50000"/>
              </a:lnSpc>
            </a:pPr>
            <a:r>
              <a:rPr lang="en-US" sz="1800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Выполнил студент группы: ИСП-22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Гришин Дмитрий Андреевич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 advTm="1294">
        <p159:morph option="byObject"/>
      </p:transition>
    </mc:Choice>
    <mc:Fallback xmlns="">
      <p:transition spd="slow" advTm="1294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ЦЕЛЬ И ЗАДАЧИ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778000"/>
            <a:ext cx="254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333333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Цель: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16000" y="22860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 создание информационной системы для автоматизированного управления деятельностью компьютерного магазина.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16000" y="3556000"/>
            <a:ext cx="254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333333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Задачи: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16000" y="4064000"/>
            <a:ext cx="14224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B2310D-38F0-7F79-0E04-C12B0DC9DC28}"/>
              </a:ext>
            </a:extLst>
          </p:cNvPr>
          <p:cNvSpPr txBox="1"/>
          <p:nvPr/>
        </p:nvSpPr>
        <p:spPr>
          <a:xfrm>
            <a:off x="1016000" y="4268647"/>
            <a:ext cx="1389026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основании анализа бизнес-процессов компьютерного магазина сформулировать требования к информационной системе и составить основные разделы технического задания.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соответствии с техническим заданием выполнить проектирование информационной системы, включая проектирование структуры базы данных и основных функциональных модулей.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соответствии с техническим заданием разработать информационную систему в среде 1С:Предприятие.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АНАЛИЗ ПРЕДМЕТНОЙ ОБЛАСТИ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Предметная область</a:t>
            </a:r>
            <a:r>
              <a:rPr lang="ru-RU" sz="2000" b="1" dirty="0"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: </a:t>
            </a:r>
            <a:r>
              <a:rPr lang="ru-RU" sz="2000" dirty="0"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Компьютерный магазин.</a:t>
            </a:r>
            <a:endParaRPr lang="en-US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Ключевые направления: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ассортиментом и складом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Работа с клиентами и поставщиками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продаж и закупок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Отчётность и аналитика</a:t>
            </a:r>
          </a:p>
          <a:p>
            <a:pPr>
              <a:lnSpc>
                <a:spcPct val="150000"/>
              </a:lnSpc>
              <a:spcBef>
                <a:spcPts val="10"/>
              </a:spcBef>
              <a:buSzPct val="100000"/>
            </a:pPr>
            <a:r>
              <a:rPr lang="en-US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Проблемы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ручного учёта: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Ручной учёт в Excel/журналах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Неэффективный контроль остатков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Низкая скорость обслуживания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Сложность анализа данных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ВЫБОР ИНСТРУМЕНТАРИЯ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Платформа: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1С:Предприятие</a:t>
            </a:r>
            <a:endParaRPr lang="en-US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Преимущества выбора: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Стандартизация внешнего вида и навигации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Единые шаблоны оформления форм и отчётов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Встроенные механизмы разграничения прав доступа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Мощные инструменты компоновки данных (СКД) для отчётов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кастомизации под бизнес-процессы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Мультипользовательский режим и совместная работа</a:t>
            </a:r>
          </a:p>
          <a:p>
            <a:pPr>
              <a:lnSpc>
                <a:spcPct val="150000"/>
              </a:lnSpc>
              <a:spcBef>
                <a:spcPts val="10"/>
              </a:spcBef>
              <a:buSzPct val="100000"/>
            </a:pPr>
            <a:r>
              <a:rPr lang="en-US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Технические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требования: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Тактовая частота процессора: 2 500 ГГц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Объем оперативной памяти: 4 ГБ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Объем свободного дискового пространства: 1 ГБ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Разрешение монитора: 1024 × 768</a:t>
            </a:r>
          </a:p>
          <a:p>
            <a:pPr marL="317500" indent="-3175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Операционная система: Windows 10/11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AS-IS (A-0)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Контекстная диаграмма текущего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«Управление компьютерным магазином»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товары от поставщиков, запросы клиентов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обслуженные клиенты, финансовые записи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устные договоренности, бумажные прайс-листы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менеджер, кладовщик, бумажные носители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BDA0A06E-CB2E-47F1-B111-CF9AD960449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978209"/>
            <a:ext cx="7829145" cy="55147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AS-IS (A0)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39425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Декомпозиция текущего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основные функции процесса: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Ручной учёт товаров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ведение базы данных в бумажных журналах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Продажи с калькулятором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регистрация заявок на бумаге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Закупки по телефону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закупки товара без учета остатков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Финансы в системе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формирование отчётов в Excel без автоматизированной аналитики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29A3E058-20F2-4332-A9DE-57C82B9AE3C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696968"/>
            <a:ext cx="7833960" cy="5570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TO-BE (A-0)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Контекстная диаграмма целевого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«Автоматизированное управление магазином»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данные поставщиков, электронные заказы клиентов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Выходы: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готовые компьютеры, автоматические отчёты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регламенты системы, бизнес-процессы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Механизмы: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персонал магазина и информационная система «Компьютерный магазин»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8C1A02C8-FF78-4F77-A668-6B9F026D5E41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651000"/>
            <a:ext cx="7972975" cy="54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IDEF0 TO-BE (A0)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Декомпозиция целевого состояния системы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автоматизированные функции: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Автоматический складской учёт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ведение ревизии товара, контроль остатков в реальном времени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Электронная система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продаж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управление заказами клиентов, история заказов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Плановое управление закупками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автоматизированное оформление поставок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Отчётность</a:t>
            </a: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формирование отчётов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9872B04F-10BB-4748-8443-1AEDD69E30E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1884430"/>
            <a:ext cx="7914206" cy="546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270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ВАРИАНТОВ ИСПОЛЬЗОВАНИЯ 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(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USE CASE)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Три </a:t>
            </a:r>
            <a:r>
              <a:rPr lang="ru-RU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актора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системы: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просмотр и использование склада, сборка компьютеров по заказу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работа с каталогом, клиентами, оформление заказов, формирование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складской учет, прием поставок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Администратор ИС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полный контроль системы, управление пользователями, настройки безопасности, просмотр всех заказов и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Связи: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include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(включение общих операций),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extend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(расширение функционала при определённых условиях)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BFCED5E-798E-5D71-AF69-7F8281C809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02595" y="4720281"/>
            <a:ext cx="2339629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4D7A3EBB-8AB5-72C1-2006-DBE830FE27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05" y="634999"/>
            <a:ext cx="19451624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F613F7FC-F1E3-4A77-B373-B40614087CC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599" y="1651000"/>
            <a:ext cx="7861215" cy="50360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270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ДЕЯТЕЛЬНОСТИ (ACTIVITY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Процесс оформления заказа на сборку компьютера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Четыре дорожки участников (</a:t>
            </a:r>
            <a:r>
              <a:rPr lang="ru-RU" sz="2000" b="1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swimlanes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получение задания → отметка о завершении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заявки → оформление продажи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заказа поставщику → получение задачи на комплектующие → отбор и передача сборщику </a:t>
            </a: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Информационная система: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проверка наличия → резервирование комплектующих → формирование чека и оплаты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Условные ветвления: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проверка наличия комплектующих.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BD1B231-783A-E016-1E93-7BC0C67D21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92032" y="-148281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C20A391-BF66-1187-12F5-37AF9C1C8B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62" y="1006997"/>
            <a:ext cx="1719732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B98B0304-4858-43FF-9AB1-477E60CEDDF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8572315" y="2708885"/>
            <a:ext cx="7439280" cy="4418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397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ПОСЛЕДОВАТЕЛЬНОСТЕЙ (SEQUENCE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Взаимодействие объектов при оформлении продажи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Участники: 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Клиент, Менеджер по продажам, ИС, Кладовщик, Сборщик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Последовательность сообщений: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Клиент → Менеджер: запрос на сборку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→ ИС: поиск комплектующих и создание заявки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ИС: резервирование товара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Кладовщику: запрос комплектующих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Сборщик: сборка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 → Менеджер: готовность заказа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→ Клиент: оформление оплаты</a:t>
            </a:r>
          </a:p>
          <a:p>
            <a:pPr>
              <a:lnSpc>
                <a:spcPct val="150000"/>
              </a:lnSpc>
            </a:pP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0E2BB74-CB55-1091-CF74-5A8F37318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89989" y="88900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30EB60A-5321-1465-DF60-6D27EAD367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180" y="88900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9575EF8A-329F-4DAC-9C13-0B1B3EC32C0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444" y="1650999"/>
            <a:ext cx="7665435" cy="61086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ER-ДИАГРАММА (ENTITY-RELATIONSHIP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36787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Структура данных информационной системы</a:t>
            </a:r>
          </a:p>
          <a:p>
            <a:pPr>
              <a:lnSpc>
                <a:spcPct val="150000"/>
              </a:lnSpc>
            </a:pPr>
            <a:r>
              <a:rPr lang="ru-RU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Одинадцать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 основных сущностей: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Категория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название, описание. Связь 1:N с Продуктом.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Продукт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название, описание, спецификация, цена закупки/продажи, категория, поставщик. Связь 1:N с Склад.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Заказ поставщику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поставщик, 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дата заказа, ожидаемая дата поставки, сумма, пользователь. Связь 1:N с 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Товары заказа поставщику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Товары заказа поставщику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номер заказа, номер продукта, количество, цена за единицу.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логин, пароль, почта, имя, фамилия, роль, активность. Связь 1:N с 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Заказ поставщику, Продажа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Склад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—номер продукта, количество. Связь 1:N с Проданные товары.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buClrTx/>
              <a:buSzTx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Проданные товары 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— номер продажи, номер склада, количество, цена продажи за единицу.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A4B368A-76D4-14DE-285A-04D02A48D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8973" y="1927654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C4BB4DA-30F0-E825-4E34-5CFB6B4F5F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-1"/>
            <a:ext cx="1809121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1202EDFF-75D3-4A1F-BF80-C30BDC62613E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8787" y="1300807"/>
            <a:ext cx="7986794" cy="7161267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Rectangle 12">
            <a:extLst>
              <a:ext uri="{FF2B5EF4-FFF2-40B4-BE49-F238E27FC236}">
                <a16:creationId xmlns:a16="http://schemas.microsoft.com/office/drawing/2014/main" id="{16D5F3EB-5FFB-4707-AA2E-7CF5E314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6256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16" name="Rectangle 13">
            <a:extLst>
              <a:ext uri="{FF2B5EF4-FFF2-40B4-BE49-F238E27FC236}">
                <a16:creationId xmlns:a16="http://schemas.microsoft.com/office/drawing/2014/main" id="{1D4C18DC-08A7-4496-A792-7799751E93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3863"/>
            <a:ext cx="65" cy="421224"/>
          </a:xfrm>
          <a:prstGeom prst="rect">
            <a:avLst/>
          </a:prstGeom>
          <a:solidFill>
            <a:srgbClr val="15151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1415" rIns="0" bIns="71415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ДИАГРАММА КЛАССОВ (CLASS DIAGRAM)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Статическая структура системы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Одиннадцать классов с атрибутами и методами:</a:t>
            </a:r>
          </a:p>
          <a:p>
            <a:pPr>
              <a:lnSpc>
                <a:spcPct val="150000"/>
              </a:lnSpc>
            </a:pP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«Пользователь»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пользователя, имя пользователя, пароль, электронная почта; методы: аутентификация, обновить профиль, деактивировать пользователя, проверить разрешение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«Клиент»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клиента, полное имя, телефон, электронная почта; методы: оформить заказ, получить историю заказов, обновить контактную информацию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«Сборочный заказ»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сборки, идентификатор продажи,; методы: начать сборку, завершить сборку, обновить статус, проверить компоненты</a:t>
            </a: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«Продажа»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продажи, идентификатор клиента, общая сумма, статус, идентификатор создавшего пользователя; методы: рассчитать итог продажи, обработать оплату, отменить продажу, сгенерировать счет, обновить статус оплаты, применить </a:t>
            </a:r>
            <a:r>
              <a:rPr lang="ru-RU" sz="1600" dirty="0" err="1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промокод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Класс «Заказ поставщику»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— атрибуты: идентификатор заказа, идентификатор поставщика, дата заказа, ожидаемая дата поставки; методы: рассчитать общую сумму, обновить дату поставки, подтвердить заказ, отменить заказ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DF6395A-60A4-A9B7-3998-04414DB58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57502" y="2500312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D9073A9-592E-EA6B-B12F-DEE24D446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625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officeArt object">
            <a:extLst>
              <a:ext uri="{FF2B5EF4-FFF2-40B4-BE49-F238E27FC236}">
                <a16:creationId xmlns:a16="http://schemas.microsoft.com/office/drawing/2014/main" id="{1767C7B6-7D3A-4ACC-AE66-FDAA834BC32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8330" y="1183738"/>
            <a:ext cx="7875357" cy="7325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79EAC66-7160-4355-B432-853E4389A029}"/>
              </a:ext>
            </a:extLst>
          </p:cNvPr>
          <p:cNvSpPr txBox="1"/>
          <p:nvPr/>
        </p:nvSpPr>
        <p:spPr>
          <a:xfrm>
            <a:off x="2393275" y="2578967"/>
            <a:ext cx="58261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2"/>
              </a:rPr>
              <a:t>https://github.com/IgangdI/diplom</a:t>
            </a:r>
            <a:endParaRPr lang="ru-RU" sz="24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119FA74-44A8-4744-96E2-083B8088240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8213" y="1688672"/>
            <a:ext cx="4724930" cy="457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955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«АВТОРИЗАЦИЯ»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Механизм контроля доступа к системе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Обязательные элементы формы: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Поле ввода логина (идентификатор пользователя)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Поле ввода пароля (с маскировкой символов)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Кнопка «Вход»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Сценарии работы: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Успешная авторизация — переход на главный экран системы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Ошибка в данных — вывод сообщения «Неверный логин или пароль»</a:t>
            </a:r>
          </a:p>
          <a:p>
            <a:pPr>
              <a:lnSpc>
                <a:spcPct val="150000"/>
              </a:lnSpc>
            </a:pPr>
            <a:r>
              <a:rPr lang="ru-RU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Разграничение прав доступа: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Администратор ИС — полный доступ ко всем экранам, включая управление пользователями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Менеджер по продажам — доступ к складу, клиентам, заказам, отчётам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Сборщик — доступ к складу и личным заявкам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Кладовщик — управление складом и оформление заказов поставщику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57995B23-77F0-4D3C-9949-0D634CE506D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4221" y="2509146"/>
            <a:ext cx="5611227" cy="4368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НОМЕНКЛАТУРА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комплектующих в системе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Элементы формы:</a:t>
            </a: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Кнопки «Создать» и «Создать группу» для добавления новых комплектующих в систему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Список с фильтрацией по типу и поиском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Особенности отображения: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сборщика и кладовщика доступен только просмотр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менеджера и администратора — полный доступ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01326A79-522B-4A79-94C9-ED1E7E3DA62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1076" y="2173116"/>
            <a:ext cx="7681744" cy="47977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КОНТРАГЕНТЫ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списком контрагентов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сборщика: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контрагентов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Для кладовщика, менеджера и администратора: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Список с кнопками действий: создание, редактирование, удаление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Поля добавления/редактирования: Наименование, ФИО, Код, Телефон, Почта, Тип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Общие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Фильтрация и поиск по списку</a:t>
            </a:r>
          </a:p>
          <a:p>
            <a:pPr>
              <a:lnSpc>
                <a:spcPct val="150000"/>
              </a:lnSpc>
            </a:pPr>
            <a:endParaRPr lang="ru-RU" sz="2000" b="1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13">
            <a:extLst>
              <a:ext uri="{FF2B5EF4-FFF2-40B4-BE49-F238E27FC236}">
                <a16:creationId xmlns:a16="http://schemas.microsoft.com/office/drawing/2014/main" id="{54AFFA15-98C0-4765-A139-0707227316E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00" y="2250726"/>
            <a:ext cx="7963033" cy="47577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ЗАКАЗ ПОСТАВЩИКУ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Документы о заказах комплектующих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Основные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заказов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нового заказа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Редактирование существующих заказов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Удаление заказов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Карточка заказа: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Подробная информация: поставщик, дата заказа/доставки, товары</a:t>
            </a:r>
          </a:p>
          <a:p>
            <a:pPr>
              <a:lnSpc>
                <a:spcPct val="150000"/>
              </a:lnSpc>
            </a:pPr>
            <a:endParaRPr lang="ru-RU" sz="2000" b="1" dirty="0">
              <a:solidFill>
                <a:srgbClr val="000000"/>
              </a:solidFill>
              <a:latin typeface="Times New Roman" panose="02020603050405020304" pitchFamily="18" charset="0"/>
              <a:ea typeface="QuattrocentoSans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20">
            <a:extLst>
              <a:ext uri="{FF2B5EF4-FFF2-40B4-BE49-F238E27FC236}">
                <a16:creationId xmlns:a16="http://schemas.microsoft.com/office/drawing/2014/main" id="{5019271E-4BCD-4456-ABC5-326A29C3706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5620" y="1962416"/>
            <a:ext cx="8280667" cy="4801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19">
            <a:extLst>
              <a:ext uri="{FF2B5EF4-FFF2-40B4-BE49-F238E27FC236}">
                <a16:creationId xmlns:a16="http://schemas.microsoft.com/office/drawing/2014/main" id="{13FB5380-0C88-4BC7-870E-ACCA104C48CD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5620" y="4054458"/>
            <a:ext cx="8210678" cy="46359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ЗАКАЗ КЛИЕНТА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Оформление и обработка заказов на продажу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Основные функции: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списка заказов (номер, дата, клиент, способ оплаты)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Создание нового заказа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деталей заказа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Печатные формы: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Счёт на оплату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Доступ: только для менеджеров и администратора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fficeArt object" descr="Рисунок 24">
            <a:extLst>
              <a:ext uri="{FF2B5EF4-FFF2-40B4-BE49-F238E27FC236}">
                <a16:creationId xmlns:a16="http://schemas.microsoft.com/office/drawing/2014/main" id="{1E0D3FC4-0E0A-463F-884D-674A48381409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747" y="1093193"/>
            <a:ext cx="8232448" cy="48546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25">
            <a:extLst>
              <a:ext uri="{FF2B5EF4-FFF2-40B4-BE49-F238E27FC236}">
                <a16:creationId xmlns:a16="http://schemas.microsoft.com/office/drawing/2014/main" id="{F0087EAB-A2A0-4EB9-B4A7-8E9999EE715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747" y="3101043"/>
            <a:ext cx="8100888" cy="4734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ФОРМА «</a:t>
            </a:r>
            <a:r>
              <a:rPr lang="ru-RU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ОТЧЕТЫ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»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7112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аналитических отчётов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Три вкладки с отчётами: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1. Затраты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сколько было потрачено на закупку товара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просмотра за конкретные периоды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2. Продажи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Просмотр сколько было заработано на продажах</a:t>
            </a:r>
          </a:p>
          <a:p>
            <a:pPr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3. Складской учет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Отображает количество комплектующих на складе</a:t>
            </a:r>
          </a:p>
        </p:txBody>
      </p:sp>
      <p:pic>
        <p:nvPicPr>
          <p:cNvPr id="6" name="officeArt object" descr="Рисунок 38">
            <a:extLst>
              <a:ext uri="{FF2B5EF4-FFF2-40B4-BE49-F238E27FC236}">
                <a16:creationId xmlns:a16="http://schemas.microsoft.com/office/drawing/2014/main" id="{B488145F-B96A-4CDC-8918-B2E793C9C3F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9689" y="1539378"/>
            <a:ext cx="2229613" cy="199796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officeArt object" descr="Рисунок 40">
            <a:extLst>
              <a:ext uri="{FF2B5EF4-FFF2-40B4-BE49-F238E27FC236}">
                <a16:creationId xmlns:a16="http://schemas.microsoft.com/office/drawing/2014/main" id="{686D71F3-7D21-48BC-A09C-0E95890B5F9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6704" y="3918343"/>
            <a:ext cx="7903354" cy="40786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635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ЗАКЛЮЧЕНИЕ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16000" y="1651000"/>
            <a:ext cx="142240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 рамках дипломного проекта разработана информационная система для комплексной автоматизации деятельности компьютерного магазина.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Реализовано в системе (1С:Предприятие):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Формы: «Авторизация», «Номенклатура», «Контрагенты», «Заказ поставщику», «Заказ клиента», «Отчёты»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Роли пользователей: Администратор ИС, Менеджер по продажам, Сборщик, Кладовщик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Управление каталогом товаров и остатками на складе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Работа с клиентской базой и поставщиками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заказов поставщикам и заказов клиентов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Формирование отчётности по продажам, затратам и складскому учёту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Разграничение прав доступа в зависимости от роли пользователя</a:t>
            </a: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Использование платформы 1С:Предприятие обеспечивает: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Единую базу данных для всех подразделений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Встроенные механизмы компоновки данных для отчётов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Возможность дальнейшего наращивания функциональности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QuattrocentoSans" pitchFamily="34" charset="-122"/>
                <a:cs typeface="Times New Roman" panose="02020603050405020304" pitchFamily="18" charset="0"/>
              </a:rPr>
              <a:t>Многопользовательский режим работы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13000" y="3556000"/>
            <a:ext cx="1143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800" b="1" dirty="0">
                <a:solidFill>
                  <a:srgbClr val="000000"/>
                </a:solidFill>
                <a:latin typeface="Times New Roman" panose="02020603050405020304" pitchFamily="18" charset="0"/>
                <a:ea typeface="Quattrocento Sans" pitchFamily="34" charset="-122"/>
                <a:cs typeface="Times New Roman" panose="02020603050405020304" pitchFamily="18" charset="0"/>
              </a:rPr>
              <a:t>СПАСИБО ЗА ВНИМАНИЕ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636</TotalTime>
  <Words>1471</Words>
  <Application>Microsoft Office PowerPoint</Application>
  <PresentationFormat>Произвольный</PresentationFormat>
  <Paragraphs>213</Paragraphs>
  <Slides>22</Slides>
  <Notes>21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7" baseType="lpstr">
      <vt:lpstr>Arial</vt:lpstr>
      <vt:lpstr>Times New Roman</vt:lpstr>
      <vt:lpstr>Calibri</vt:lpstr>
      <vt:lpstr>Aptos</vt:lpstr>
      <vt:lpstr>Custom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информационной системы «Сервис аренды спортивного инвентаря»</dc:title>
  <dc:subject>Разработка информационной системы «Сервис аренды спортивного инвентаря»</dc:subject>
  <dc:creator>Kimi</dc:creator>
  <cp:lastModifiedBy>Дмитрий Гришин</cp:lastModifiedBy>
  <cp:revision>41</cp:revision>
  <dcterms:created xsi:type="dcterms:W3CDTF">2026-06-10T10:43:57Z</dcterms:created>
  <dcterms:modified xsi:type="dcterms:W3CDTF">2026-06-20T02:44:02Z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{"Label":"Разработка информационной системы «Сервис аренды спортивного инвентаря»","ContentProducer":"001191110108MACG2KBH8F10000","ProduceID":"19eb11d8-45b2-873b-8000-00009c67ffc0","ReservedCode1":"","ContentPropagator":"001191110108MACG2KBH8F20000","PropagateID":"19eb11d8-45b2-873b-8000-00009c67ffc0","ReservedCode2":""}</vt:lpwstr>
  </property>
</Properties>
</file>
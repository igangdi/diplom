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CBE4D1-CA34-484B-A602-9A284283B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86C47E-401F-4B4E-99EA-F307FDE7A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27C175-F6D0-41A4-A8BD-47A20EF90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12DBD4-4027-4655-9E10-B14A87BB9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34CAFA-EF83-48EF-A1C6-A462038B2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2458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3E904B-2DB9-4FA0-801D-8E31E30FB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9D4F232-3AFA-4FED-BC45-A9F581806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04CC89B-0109-4582-95A6-FD8DED1A8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006CF0E-7FB9-4272-8CE3-CBE76A450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81B2287-FEA8-4D3B-99A8-9774B47B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0241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FE35C3-6B7B-4136-8545-76657A4F1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4A25C9-DA0D-4972-B00D-7346EB91A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A503A1-2FAE-4ED3-BEAE-FC2148977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6D83C1-D253-41A0-AAED-85746AEB2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FDAF18-4FCC-4802-A2D1-C29B274D9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2784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9DCE2A-6316-43B7-98D1-E5EFA5EDA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9EBBE96-3CE3-4B2F-8A02-75B9A0DC3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A6BD225-E33D-479E-8AA2-56011DA4E9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E0B0BFB-3277-42EE-897E-E5DD41CEB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52BBD22-83D9-4082-8600-37381B37F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69F8C94-B8F9-4B83-86D9-AF5BEF7BC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533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30A45F-F40B-48CD-BACD-EE2C55CFE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8E63419-602B-4179-8AFD-A152D3EB05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8272FFA-9E86-4282-818D-F05602AB25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931889A-9ECB-4680-B057-421AF61B3F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85EE685-5D35-4B14-872F-9364575314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1CF483E-54B7-490A-98CB-6237548E0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2433EC4-7C4C-4275-A152-23AB891FC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2A57CFC-98C1-4FD4-B824-94526BCA4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6817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1DC91E-446E-43D1-B63B-8EA6AF07D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102D8E0-4948-4B0D-91B8-5D8E0CE96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599CB24-E2F3-4F44-8F75-6DD5B318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7A572AB-973E-43EB-82BA-24B80981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3387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F7FC383-E547-4F78-A54C-8F3F37254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4E53E77-F1E8-497C-BB06-654D009B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18A5C21-99E3-4CFA-9E53-3B3DB1A4D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7663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6938B7-BD4B-49F0-ACF1-9435AC0EC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1A8777-1F23-4709-B4A5-5C1B6021B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785ABE8-3F73-4BE7-A81C-D7B19F7E5F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3CDF646-CED5-493D-B8F0-57C478794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760BA7-A709-4582-8247-90DC77194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252C1AB-EB42-4D23-B6B4-C02F37E5D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9531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0F37F8-93F4-4B68-9601-753833C28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6C832D2-F227-4DE1-8ABC-D797A0F6FB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0EF1BF-48B6-4342-9F85-21C1972F61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AAB799E-B3D1-447D-A412-7829FC5DA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CEEA028-9D4B-441E-9DDC-10C9652CF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65FA6F9-E512-4B69-8F4F-4F404DCE1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573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90BC5A-C7FF-4469-A643-072EEAB4E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6EBD1B8-88F6-43EE-8F49-604DCD3477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DCD2C8-5F20-4FB4-B6C8-847443E0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38B3150-0CDB-4D18-8F73-AA7438AD5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633536A-8BB8-4969-B68D-60BD1D0CD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7104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7BA7E1A-C8DD-494A-9C2C-B5E3641D00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961D56B-4D51-4D76-9E32-3AF9D9CDF7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DA17B6-41A6-4FE4-A075-08F3D8BC1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BEBF39-7AB3-4A25-A346-AD78F0B9E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611197-C896-45DF-8975-CCE389506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344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281A6A-9887-4317-840E-FD0F10C64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6F1A80C-A314-4D4B-B2C0-45186AA372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E995AE-713A-4755-8F38-046F50F572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5D45F-1645-43D1-BE72-7B266C0D9CC5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FB66C3-AF57-43A7-A05B-93F4DB4BE3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8781A3-E858-48DA-85DF-1A033BA2C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E83BA2-E08E-460E-A999-00E51FEA6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963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IgangdI/diplom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1609EF-3DBB-422A-AF0F-8A7A0DAB0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579" y="406400"/>
            <a:ext cx="10467474" cy="2387600"/>
          </a:xfrm>
        </p:spPr>
        <p:txBody>
          <a:bodyPr>
            <a:normAutofit fontScale="90000"/>
          </a:bodyPr>
          <a:lstStyle/>
          <a:p>
            <a:r>
              <a:rPr lang="ru-RU" dirty="0"/>
              <a:t>Разработка информационной системы «Компьютерный магазин» на 1С:Предприятие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9B84062-3738-4EB1-9427-35A1A0F3D0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263" y="3858712"/>
            <a:ext cx="9144000" cy="1655762"/>
          </a:xfrm>
        </p:spPr>
        <p:txBody>
          <a:bodyPr>
            <a:noAutofit/>
          </a:bodyPr>
          <a:lstStyle/>
          <a:p>
            <a:pPr algn="l"/>
            <a:r>
              <a:rPr lang="ru-RU" sz="2800" dirty="0"/>
              <a:t>Выполнил: Гришин Дмитрий Андреевич</a:t>
            </a:r>
          </a:p>
          <a:p>
            <a:pPr algn="l"/>
            <a:r>
              <a:rPr lang="ru-RU" sz="2800" dirty="0"/>
              <a:t>Группа: ИСП-22</a:t>
            </a:r>
          </a:p>
          <a:p>
            <a:pPr algn="l"/>
            <a:r>
              <a:rPr lang="ru-RU" sz="2800" dirty="0"/>
              <a:t>Руководитель: Козлова Ольга Николаевна</a:t>
            </a:r>
          </a:p>
          <a:p>
            <a:pPr algn="l"/>
            <a:endParaRPr lang="ru-RU" sz="2800" dirty="0"/>
          </a:p>
          <a:p>
            <a:pPr algn="l"/>
            <a:r>
              <a:rPr lang="ru-RU" sz="2800" dirty="0"/>
              <a:t>Воркута, 2026</a:t>
            </a:r>
          </a:p>
        </p:txBody>
      </p:sp>
    </p:spTree>
    <p:extLst>
      <p:ext uri="{BB962C8B-B14F-4D97-AF65-F5344CB8AC3E}">
        <p14:creationId xmlns:p14="http://schemas.microsoft.com/office/powerpoint/2010/main" val="276062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6C9CD-9467-420E-96CA-EED60552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105" y="365125"/>
            <a:ext cx="10551695" cy="1325563"/>
          </a:xfrm>
        </p:spPr>
        <p:txBody>
          <a:bodyPr>
            <a:normAutofit/>
          </a:bodyPr>
          <a:lstStyle/>
          <a:p>
            <a:r>
              <a:rPr lang="ru-RU" sz="4000" b="0" i="0" dirty="0">
                <a:effectLst/>
              </a:rPr>
              <a:t>Почему компьютерному магазину нужна ИС?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FBAFD55-A070-4E49-9F35-A7BE98A02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Было (проблемы):</a:t>
            </a:r>
          </a:p>
          <a:p>
            <a:r>
              <a:rPr lang="ru-RU" dirty="0"/>
              <a:t>Ручной учёт в Excel и бумажных журналах</a:t>
            </a:r>
          </a:p>
          <a:p>
            <a:r>
              <a:rPr lang="ru-RU" dirty="0"/>
              <a:t>«Память сотрудников» вместо системы</a:t>
            </a:r>
          </a:p>
          <a:p>
            <a:r>
              <a:rPr lang="ru-RU" dirty="0"/>
              <a:t>Постоянные ошибки в остатках</a:t>
            </a:r>
          </a:p>
          <a:p>
            <a:r>
              <a:rPr lang="ru-RU" dirty="0"/>
              <a:t>Долгое оформление заказа (</a:t>
            </a:r>
            <a:r>
              <a:rPr lang="ru-RU" b="1" i="0" dirty="0">
                <a:effectLst/>
                <a:latin typeface="YS Text"/>
              </a:rPr>
              <a:t>±</a:t>
            </a:r>
            <a:r>
              <a:rPr lang="ru-RU" dirty="0"/>
              <a:t>15 мин)</a:t>
            </a:r>
          </a:p>
          <a:p>
            <a:r>
              <a:rPr lang="ru-RU" dirty="0"/>
              <a:t>Невозможно быстро понять, какой товар «ходовой»</a:t>
            </a:r>
          </a:p>
          <a:p>
            <a:pPr marL="0" indent="0">
              <a:buNone/>
            </a:pPr>
            <a:r>
              <a:rPr lang="ru-RU" dirty="0"/>
              <a:t>Итог:</a:t>
            </a:r>
          </a:p>
          <a:p>
            <a:r>
              <a:rPr lang="ru-RU" dirty="0"/>
              <a:t>Дефицит или затоваривание</a:t>
            </a:r>
          </a:p>
          <a:p>
            <a:r>
              <a:rPr lang="ru-RU" dirty="0"/>
              <a:t>Потеря прибыли и клиентов</a:t>
            </a:r>
          </a:p>
        </p:txBody>
      </p:sp>
    </p:spTree>
    <p:extLst>
      <p:ext uri="{BB962C8B-B14F-4D97-AF65-F5344CB8AC3E}">
        <p14:creationId xmlns:p14="http://schemas.microsoft.com/office/powerpoint/2010/main" val="3883600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3E8D3F-A456-48DE-885E-6E23BF78F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C1A02BB-7721-440D-A803-28764A748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Цель:</a:t>
            </a:r>
          </a:p>
          <a:p>
            <a:pPr marL="0" indent="0">
              <a:buNone/>
            </a:pPr>
            <a:r>
              <a:rPr lang="ru-RU" dirty="0"/>
              <a:t>Разработка ИС для автоматизации бизнес-процессов компьютерного магазина</a:t>
            </a:r>
          </a:p>
          <a:p>
            <a:pPr marL="0" indent="0">
              <a:buNone/>
            </a:pPr>
            <a:r>
              <a:rPr lang="ru-RU" dirty="0"/>
              <a:t>Задачи: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Проанализировать бизнес-процессы (IDEF0 «As </a:t>
            </a:r>
            <a:r>
              <a:rPr lang="ru-RU" dirty="0" err="1"/>
              <a:t>Is</a:t>
            </a:r>
            <a:r>
              <a:rPr lang="ru-RU" dirty="0"/>
              <a:t>» → «To Be»)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Спроектировать архитектуру (UML: </a:t>
            </a:r>
            <a:r>
              <a:rPr lang="ru-RU" dirty="0" err="1"/>
              <a:t>Use</a:t>
            </a:r>
            <a:r>
              <a:rPr lang="ru-RU" dirty="0"/>
              <a:t> Case, </a:t>
            </a:r>
            <a:r>
              <a:rPr lang="ru-RU" dirty="0" err="1"/>
              <a:t>Activity</a:t>
            </a:r>
            <a:r>
              <a:rPr lang="ru-RU" dirty="0"/>
              <a:t>, ER-диаграмма)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Разработать конфигурацию в 1С:Предприятие 8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Реализовать справочники, документы и отчёты</a:t>
            </a:r>
          </a:p>
        </p:txBody>
      </p:sp>
    </p:spTree>
    <p:extLst>
      <p:ext uri="{BB962C8B-B14F-4D97-AF65-F5344CB8AC3E}">
        <p14:creationId xmlns:p14="http://schemas.microsoft.com/office/powerpoint/2010/main" val="1805105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317360-415C-468F-8538-DD1D9E91E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моделирования бизнес-процессов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8074945D-435A-45E4-8542-A938C6BC1E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3978804"/>
              </p:ext>
            </p:extLst>
          </p:nvPr>
        </p:nvGraphicFramePr>
        <p:xfrm>
          <a:off x="838200" y="1825625"/>
          <a:ext cx="10515600" cy="232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34581794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49428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As Is (</a:t>
                      </a:r>
                      <a:r>
                        <a:rPr lang="ru-RU" b="0">
                          <a:effectLst/>
                          <a:latin typeface="quote-cjk-patch"/>
                        </a:rPr>
                        <a:t>Было)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>
                          <a:effectLst/>
                          <a:latin typeface="quote-cjk-patch"/>
                        </a:rPr>
                        <a:t>To Be (</a:t>
                      </a:r>
                      <a:r>
                        <a:rPr lang="ru-RU" b="0">
                          <a:effectLst/>
                          <a:latin typeface="quote-cjk-patch"/>
                        </a:rPr>
                        <a:t>Стало)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477219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Устные договорённости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Регламенты системы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182299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Бумажные прайс-листы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Автоматическая загрузка цен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97263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Память сотрудника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Ролевая модель доступа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78274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Калькулятор вручную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Автоматический расчёт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70184362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DB17E7B-F09B-4DDF-B3D1-EB8C6283F849}"/>
              </a:ext>
            </a:extLst>
          </p:cNvPr>
          <p:cNvSpPr txBox="1"/>
          <p:nvPr/>
        </p:nvSpPr>
        <p:spPr>
          <a:xfrm>
            <a:off x="4340822" y="4459887"/>
            <a:ext cx="35103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/>
              <a:t>15 мин → 3 мин</a:t>
            </a:r>
          </a:p>
        </p:txBody>
      </p:sp>
    </p:spTree>
    <p:extLst>
      <p:ext uri="{BB962C8B-B14F-4D97-AF65-F5344CB8AC3E}">
        <p14:creationId xmlns:p14="http://schemas.microsoft.com/office/powerpoint/2010/main" val="3400039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0D17E4-35E0-44B0-AC7D-0EB01295B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структура базы данных (ER-диаграмма)</a:t>
            </a:r>
          </a:p>
        </p:txBody>
      </p:sp>
      <p:pic>
        <p:nvPicPr>
          <p:cNvPr id="4" name="officeArt object">
            <a:extLst>
              <a:ext uri="{FF2B5EF4-FFF2-40B4-BE49-F238E27FC236}">
                <a16:creationId xmlns:a16="http://schemas.microsoft.com/office/drawing/2014/main" id="{9A17EA33-723B-4374-82A4-5F335075A764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6573253" cy="470418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DC71B1-E61D-417E-9750-CA5D36C51F09}"/>
              </a:ext>
            </a:extLst>
          </p:cNvPr>
          <p:cNvSpPr txBox="1"/>
          <p:nvPr/>
        </p:nvSpPr>
        <p:spPr>
          <a:xfrm>
            <a:off x="7555832" y="2053389"/>
            <a:ext cx="41468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 схеме видны связи: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Контрагенты (поставщики и клиенты)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Номенклатура (товары и услуги)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Заказы поставщику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Заказы клиента</a:t>
            </a:r>
          </a:p>
        </p:txBody>
      </p:sp>
    </p:spTree>
    <p:extLst>
      <p:ext uri="{BB962C8B-B14F-4D97-AF65-F5344CB8AC3E}">
        <p14:creationId xmlns:p14="http://schemas.microsoft.com/office/powerpoint/2010/main" val="2657440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69F142-BF9D-45DA-BB4D-79146ACE0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Функциональность системы для разных пользователей</a:t>
            </a:r>
          </a:p>
        </p:txBody>
      </p:sp>
      <p:pic>
        <p:nvPicPr>
          <p:cNvPr id="6" name="officeArt object">
            <a:extLst>
              <a:ext uri="{FF2B5EF4-FFF2-40B4-BE49-F238E27FC236}">
                <a16:creationId xmlns:a16="http://schemas.microsoft.com/office/drawing/2014/main" id="{CDFD41E7-4718-4F5D-A0EE-0C35AB0ADB8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1752" y="1690688"/>
            <a:ext cx="6792048" cy="435133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D8457A-AD18-4007-8B76-2F14D6F2BE50}"/>
              </a:ext>
            </a:extLst>
          </p:cNvPr>
          <p:cNvSpPr txBox="1"/>
          <p:nvPr/>
        </p:nvSpPr>
        <p:spPr>
          <a:xfrm>
            <a:off x="838200" y="1892969"/>
            <a:ext cx="390224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Чётко видны 4 </a:t>
            </a:r>
            <a:r>
              <a:rPr lang="ru-RU" dirty="0" err="1"/>
              <a:t>актора</a:t>
            </a:r>
            <a:r>
              <a:rPr lang="ru-RU" dirty="0"/>
              <a:t> и их действия: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Администратор — полный контроль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Менеджер — продажи и клиенты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Сборщик — заказы и сборка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Кладовщик — склад и товары</a:t>
            </a:r>
          </a:p>
        </p:txBody>
      </p:sp>
    </p:spTree>
    <p:extLst>
      <p:ext uri="{BB962C8B-B14F-4D97-AF65-F5344CB8AC3E}">
        <p14:creationId xmlns:p14="http://schemas.microsoft.com/office/powerpoint/2010/main" val="3130554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BEEB05-1177-4818-9484-BF432CC3C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Приложение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B93F49-0AF6-40BA-8E15-08D335CF9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0" i="0" dirty="0">
                <a:solidFill>
                  <a:srgbClr val="679EFE"/>
                </a:solidFill>
                <a:effectLst/>
                <a:latin typeface="quote-cjk-patch"/>
                <a:hlinkClick r:id="rId2"/>
              </a:rPr>
              <a:t>github.com/</a:t>
            </a:r>
            <a:r>
              <a:rPr lang="en-US" b="0" i="0" dirty="0" err="1">
                <a:solidFill>
                  <a:srgbClr val="679EFE"/>
                </a:solidFill>
                <a:effectLst/>
                <a:latin typeface="quote-cjk-patch"/>
                <a:hlinkClick r:id="rId2"/>
              </a:rPr>
              <a:t>IgangdI</a:t>
            </a:r>
            <a:r>
              <a:rPr lang="en-US" b="0" i="0" dirty="0">
                <a:solidFill>
                  <a:srgbClr val="679EFE"/>
                </a:solidFill>
                <a:effectLst/>
                <a:latin typeface="quote-cjk-patch"/>
                <a:hlinkClick r:id="rId2"/>
              </a:rPr>
              <a:t>/</a:t>
            </a:r>
            <a:r>
              <a:rPr lang="en-US" b="0" i="0" dirty="0" err="1">
                <a:solidFill>
                  <a:srgbClr val="679EFE"/>
                </a:solidFill>
                <a:effectLst/>
                <a:latin typeface="quote-cjk-patch"/>
                <a:hlinkClick r:id="rId2"/>
              </a:rPr>
              <a:t>diplom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FC97C35-E029-4257-8644-672D7557D7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243" y="1907303"/>
            <a:ext cx="4098407" cy="397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68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36CE5E-A94F-487E-8231-2AD7085E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BC9717D-6D88-43F7-8CEB-1745E6EEA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Разработано:</a:t>
            </a:r>
          </a:p>
          <a:p>
            <a:r>
              <a:rPr lang="ru-RU" dirty="0"/>
              <a:t>3 справочника («Номенклатура», «Контрагенты» и др.)</a:t>
            </a:r>
          </a:p>
          <a:p>
            <a:r>
              <a:rPr lang="ru-RU" dirty="0"/>
              <a:t>2 документа («Заказ поставщику», «Заказ клиента»)</a:t>
            </a:r>
          </a:p>
          <a:p>
            <a:r>
              <a:rPr lang="ru-RU" dirty="0"/>
              <a:t>3 отчёта («Продажи», «Затраты», «Складской учёт»)</a:t>
            </a:r>
          </a:p>
          <a:p>
            <a:r>
              <a:rPr lang="ru-RU" dirty="0"/>
              <a:t>4 роли пользователей</a:t>
            </a:r>
          </a:p>
          <a:p>
            <a:pPr marL="0" indent="0">
              <a:buNone/>
            </a:pPr>
            <a:r>
              <a:rPr lang="ru-RU" dirty="0"/>
              <a:t>Ключевой эффект:</a:t>
            </a:r>
          </a:p>
          <a:p>
            <a:pPr marL="0" indent="0">
              <a:buNone/>
            </a:pPr>
            <a:r>
              <a:rPr lang="ru-RU" dirty="0"/>
              <a:t>Скорость работы выросла в 5 раз (15 мин → 3 мин на заказ)</a:t>
            </a:r>
          </a:p>
        </p:txBody>
      </p:sp>
    </p:spTree>
    <p:extLst>
      <p:ext uri="{BB962C8B-B14F-4D97-AF65-F5344CB8AC3E}">
        <p14:creationId xmlns:p14="http://schemas.microsoft.com/office/powerpoint/2010/main" val="163402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D91E1F-68EE-452C-807F-4D541BCA8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811838"/>
          </a:xfrm>
        </p:spPr>
        <p:txBody>
          <a:bodyPr/>
          <a:lstStyle/>
          <a:p>
            <a:pPr algn="ctr"/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744817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298</Words>
  <Application>Microsoft Office PowerPoint</Application>
  <PresentationFormat>Широкоэкранный</PresentationFormat>
  <Paragraphs>59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quote-cjk-patch</vt:lpstr>
      <vt:lpstr>YS Text</vt:lpstr>
      <vt:lpstr>Тема Office</vt:lpstr>
      <vt:lpstr>Разработка информационной системы «Компьютерный магазин» на 1С:Предприятие</vt:lpstr>
      <vt:lpstr>Почему компьютерному магазину нужна ИС?</vt:lpstr>
      <vt:lpstr>Цель и задачи проекта</vt:lpstr>
      <vt:lpstr>Результаты моделирования бизнес-процессов</vt:lpstr>
      <vt:lpstr>Логическая структура базы данных (ER-диаграмма)</vt:lpstr>
      <vt:lpstr>Функциональность системы для разных пользователей</vt:lpstr>
      <vt:lpstr>Приложение</vt:lpstr>
      <vt:lpstr>Итоги работы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информационной системы «Компьютерный магазин» на 1С:Предприятие</dc:title>
  <dc:creator>Дмитрий Гришин</dc:creator>
  <cp:lastModifiedBy>Дмитрий Гришин</cp:lastModifiedBy>
  <cp:revision>2</cp:revision>
  <dcterms:created xsi:type="dcterms:W3CDTF">2026-06-10T21:53:29Z</dcterms:created>
  <dcterms:modified xsi:type="dcterms:W3CDTF">2026-06-10T22:00:04Z</dcterms:modified>
</cp:coreProperties>
</file>
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</p:sldIdLst>
  <p:sldSz cx="16256000" cy="9144000"/>
  <p:notesSz cx="9144000" cy="16256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21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3750" y="19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1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IgangdI/dipl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810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МИНИСТЕРСТВО ОБРАЗОВАНИЯ И НАУКИ РЕСПУБЛИКИ КОМИ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ГОСУДАРСТВЕННОЕ ПРОФЕССИОНАЛЬНОЕ ОБРАЗОВАТЕЛЬНОЕ УЧРЕЖДЕНИЕ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"ВОРКУТИНСКИЙ АРКТИЧЕСКИЙ ГОРНО-ПОЛИТЕХНИЧЕСКИЙ КОЛЛЕДЖ"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0" y="3048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ДИПЛОМНЫЙ ПРОЕКТ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8000" y="4064000"/>
            <a:ext cx="1270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ru-RU" sz="3000" i="1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Разработка информационной системы «Компьютерный магазин» на 1С:Предприятие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0" y="67310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Руководитель проекта: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Козлова Ольга Николаевна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66000" y="7747000"/>
            <a:ext cx="774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Выполнил студент группы: ИСП-22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Гришин Дмитрий Андреевич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 advTm="1294">
        <p159:morph option="byObject"/>
      </p:transition>
    </mc:Choice>
    <mc:Fallback xmlns="">
      <p:transition spd="slow" advTm="1294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ЦЕЛЬ И ЗАДАЧИ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778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Цель: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16000" y="2286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создание информационной системы для автоматизированного управления деятельностью компьютерного магазина.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16000" y="3556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Задачи: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0" y="40640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2310D-38F0-7F79-0E04-C12B0DC9DC28}"/>
              </a:ext>
            </a:extLst>
          </p:cNvPr>
          <p:cNvSpPr txBox="1"/>
          <p:nvPr/>
        </p:nvSpPr>
        <p:spPr>
          <a:xfrm>
            <a:off x="1016000" y="4268647"/>
            <a:ext cx="1389026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основании анализа бизнес-процессов компьютерного магазина сформулировать требования к информационной системе и составить основные разделы технического задания.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соответствии с техническим заданием выполнить проектирование информационной системы, включая проектирование структуры базы данных и основных функциональных модулей.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соответствии с техническим заданием разработать информационную систему в среде 1С:Предприятие.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АНАЛИЗ ПРЕДМЕТНОЙ ОБЛАСТИ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14224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Предметная область</a:t>
            </a:r>
            <a:r>
              <a:rPr lang="ru-RU" sz="2000" b="1" dirty="0"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Компьютерный магазин.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Ключевые направления: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Управление ассортиментом и складом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Работа с клиентами и поставщиками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Оформление продаж и закупок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Отчётность и аналитика</a:t>
            </a:r>
          </a:p>
          <a:p>
            <a:pPr>
              <a:lnSpc>
                <a:spcPct val="150000"/>
              </a:lnSpc>
              <a:spcBef>
                <a:spcPts val="10"/>
              </a:spcBef>
              <a:buSzPct val="100000"/>
            </a:pP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Проблемы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ручного учёта: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Ручной учёт в Excel/журналах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Неэффективный контроль остатков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Низкая скорость обслуживания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Сложность анализа данных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ВЫБОР ИНСТРУМЕНТАРИЯ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14224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Платформа: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1С:Предприятие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Преимущества выбора: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Стандартизация внешнего вида и навигации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Единые шаблоны оформления форм и отчётов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Встроенные механизмы разграничения прав доступа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Мощные инструменты компоновки данных (СКД) для отчётов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Возможность кастомизации под бизнес-процессы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Мультипользовательский режим и совместная работа</a:t>
            </a:r>
          </a:p>
          <a:p>
            <a:pPr>
              <a:lnSpc>
                <a:spcPct val="150000"/>
              </a:lnSpc>
              <a:spcBef>
                <a:spcPts val="10"/>
              </a:spcBef>
              <a:buSzPct val="100000"/>
            </a:pP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Технические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требования: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Тактовая частота процессора: 2 500 ГГц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Объем оперативной памяти: 4 ГБ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Объем свободного дискового пространства: 1 ГБ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Разрешение монитора: 1024 × 768</a:t>
            </a: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Операционная система: Windows 10/11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IDEF0 AS-IS (A-0)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Контекстная диаграмма текущего состояния системы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Процесс: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«Управление компьютерным магазином»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Входы: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товары от поставщиков, запросы клиентов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Выходы: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обслуженные клиенты, финансовые записи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Управление: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устные договоренности, бумажные прайс-листы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Механизмы: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менеджер, кладовщик, бумажные носители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BDA0A06E-CB2E-47F1-B111-CF9AD960449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978209"/>
            <a:ext cx="7829145" cy="5514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IDEF0 AS-IS (A0)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39425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Декомпозиция текущего состояния системы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Четыре основные функции процесса: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Ручной учёт товаров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ведение базы данных в бумажных журналах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Продажи с калькулятором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регистрация заявок на бумаге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Закупки по телефону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закупки товара без учета остатков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Финансы в системе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формирование отчётов в Excel без автоматизированной аналитики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29A3E058-20F2-4332-A9DE-57C82B9AE3C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696968"/>
            <a:ext cx="7833960" cy="5570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IDEF0 TO-BE (A-0)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Контекстная диаграмма целевого состояния системы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Процесс: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«Автоматизированное управление магазином»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Входы: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данные поставщиков, электронные заказы клиентов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Выходы: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готовые компьютеры, автоматические отчёты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Управление: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регламенты системы, бизнес-процессы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Механизмы: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персонал магазина и информационная система «Компьютерный магазин»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8C1A02C8-FF78-4F77-A668-6B9F026D5E4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651000"/>
            <a:ext cx="7972975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IDEF0 TO-BE (A0)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Декомпозиция целевого состояния системы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Четыре автоматизированные функции: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Автоматический складской учёт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ведение ревизии товара, контроль остатков в реальном времени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Электронная система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продаж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управление заказами клиентов, история заказов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Плановое управление закупками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автоматизированное оформление поставок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Отчётность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формирование отчётов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9872B04F-10BB-4748-8443-1AEDD69E30E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884430"/>
            <a:ext cx="7914206" cy="54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ДИАГРАММА ВАРИАНТОВ ИСПОЛЬЗОВАНИЯ 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(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USE CASE)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Три </a:t>
            </a: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актора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системы: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Сборщик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просмотр и использование склада, сборка компьютеров по заказу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Менеджер по продажам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работа с каталогом, клиентами, оформление заказов, формирование отчётов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Кладовщик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складской учет, прием поставок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Администратор ИС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полный контроль системы, управление пользователями, настройки безопасности, просмотр всех заказов и отчётов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Связи: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include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(включение общих операций),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extend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(расширение функционала при определённых условиях)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FCED5E-798E-5D71-AF69-7F8281C80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2595" y="4720281"/>
            <a:ext cx="2339629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7A3EBB-8AB5-72C1-2006-DBE830FE2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05" y="634999"/>
            <a:ext cx="1945162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officeArt object">
            <a:extLst>
              <a:ext uri="{FF2B5EF4-FFF2-40B4-BE49-F238E27FC236}">
                <a16:creationId xmlns:a16="http://schemas.microsoft.com/office/drawing/2014/main" id="{F613F7FC-F1E3-4A77-B373-B40614087CC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99" y="1651000"/>
            <a:ext cx="7861215" cy="5036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ДИАГРАММА ДЕЯТЕЛЬНОСТИ (ACTIVITY DIAGRAM)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Процесс оформления заказа на сборку компьютера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Четыре дорожки участников (</a:t>
            </a: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swimlanes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Сборщик: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получение задания → отметка о завершении 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Менеджер по продажам: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оформление заявки → оформление продажи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Кладовщик: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оформление заказа поставщику → получение задачи на комплектующие → отбор и передача сборщику 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Информационная система: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проверка наличия → резервирование комплектующих → формирование чека и оплаты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Условные ветвления: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проверка наличия комплектующих.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D1B231-783A-E016-1E93-7BC0C67D2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2032" y="-148281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C20A391-BF66-1187-12F5-37AF9C1C8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62" y="1006997"/>
            <a:ext cx="1719732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officeArt object">
            <a:extLst>
              <a:ext uri="{FF2B5EF4-FFF2-40B4-BE49-F238E27FC236}">
                <a16:creationId xmlns:a16="http://schemas.microsoft.com/office/drawing/2014/main" id="{B98B0304-4858-43FF-9AB1-477E60CEDD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72315" y="2708885"/>
            <a:ext cx="7439280" cy="4418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ДИАГРАММА ПОСЛЕДОВАТЕЛЬНОСТЕЙ (SEQUENCE DIAGRAM)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Взаимодействие объектов при оформлении продажи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Участники: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Клиент, Менеджер по продажам, ИС, Кладовщик, Сборщик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Последовательность сообщений: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Клиент → Менеджер: запрос на сборку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Менеджер → ИС: поиск комплектующих и создание заявки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ИС → ИС: резервирование товара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ИС → Кладовщику: запрос комплектующих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ИС → Сборщик: сборка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ИС → Менеджер: готовность заказа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Менеджер → Клиент: оформление оплаты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E2BB74-CB55-1091-CF74-5A8F37318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9989" y="88900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30EB60A-5321-1465-DF60-6D27EAD36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80" y="88900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officeArt object">
            <a:extLst>
              <a:ext uri="{FF2B5EF4-FFF2-40B4-BE49-F238E27FC236}">
                <a16:creationId xmlns:a16="http://schemas.microsoft.com/office/drawing/2014/main" id="{9575EF8A-329F-4DAC-9C13-0B1B3EC32C0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444" y="1650999"/>
            <a:ext cx="7665435" cy="6108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ER-ДИАГРАММА (ENTITY-RELATIONSHIP DIAGRAM)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6787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Структура данных информационной системы</a:t>
            </a:r>
          </a:p>
          <a:p>
            <a:pPr>
              <a:lnSpc>
                <a:spcPct val="150000"/>
              </a:lnSpc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Одинадцать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основных сущностей: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algn="just" defTabSz="914400" rtl="0" eaLnBrk="0" fontAlgn="base" latinLnBrk="0" hangingPunct="0">
              <a:lnSpc>
                <a:spcPct val="150000"/>
              </a:lnSpc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название, описание. Связь 1:N с Продуктом.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название, описание, спецификация, цена закупки/продажи, категория, поставщик. Связь 1:N с Склад.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Заказ поставщику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поставщик,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дата заказа, ожидаемая дата поставки, сумма, пользователь. Связь 1:N с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Товары заказа поставщику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Товары заказа поставщику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номер заказа, номер продукта, количество, цена за единицу.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логин, пароль, почта, имя, фамилия, роль, активность. Связь 1:N с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 поставщику, Продажа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Склад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—номер продукта, количество. Связь 1:N с Проданные товары.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Проданные товары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номер продажи, номер склада, количество, цена продажи за единицу.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A4B368A-76D4-14DE-285A-04D02A48D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8973" y="1927654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C4BB4DA-30F0-E825-4E34-5CFB6B4F5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180912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officeArt object">
            <a:extLst>
              <a:ext uri="{FF2B5EF4-FFF2-40B4-BE49-F238E27FC236}">
                <a16:creationId xmlns:a16="http://schemas.microsoft.com/office/drawing/2014/main" id="{1202EDFF-75D3-4A1F-BF80-C30BDC62613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787" y="1300807"/>
            <a:ext cx="7986794" cy="716126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2">
            <a:extLst>
              <a:ext uri="{FF2B5EF4-FFF2-40B4-BE49-F238E27FC236}">
                <a16:creationId xmlns:a16="http://schemas.microsoft.com/office/drawing/2014/main" id="{16D5F3EB-5FFB-4707-AA2E-7CF5E3146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1D4C18DC-08A7-4496-A792-7799751E9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863"/>
            <a:ext cx="65" cy="421224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1415" rIns="0" bIns="7141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ДИАГРАММА КЛАССОВ (CLASS DIAGRAM)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Статическая структура системы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Одиннадцать классов с атрибутами и методами: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Класс «Пользователь»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атрибуты: идентификатор пользователя, имя пользователя, пароль, электронная почта; методы: аутентификация, обновить профиль, деактивировать пользователя, проверить разрешение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Класс «Клиент»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атрибуты: идентификатор клиента, полное имя, телефон, электронная почта; методы: оформить заказ, получить историю заказов, обновить контактную информацию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Класс «Сборочный заказ»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атрибуты: идентификатор сборки, идентификатор продажи,; методы: начать сборку, завершить сборку, обновить статус, проверить компоненты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Класс «Продажа»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атрибуты: идентификатор продажи, идентификатор клиента, общая сумма, статус, идентификатор создавшего пользователя; методы: рассчитать итог продажи, обработать оплату, отменить продажу, сгенерировать счет, обновить статус оплаты, применить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промокод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Класс «Заказ поставщику»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— атрибуты: идентификатор заказа, идентификатор поставщика, дата заказа, ожидаемая дата поставки; методы: рассчитать общую сумму, обновить дату поставки, подтвердить заказ, отменить заказ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DF6395A-60A4-A9B7-3998-04414DB58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7502" y="2500312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D9073A9-592E-EA6B-B12F-DEE24D44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officeArt object">
            <a:extLst>
              <a:ext uri="{FF2B5EF4-FFF2-40B4-BE49-F238E27FC236}">
                <a16:creationId xmlns:a16="http://schemas.microsoft.com/office/drawing/2014/main" id="{1767C7B6-7D3A-4ACC-AE66-FDAA834BC32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330" y="1183738"/>
            <a:ext cx="7875357" cy="732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EAC66-7160-4355-B432-853E4389A029}"/>
              </a:ext>
            </a:extLst>
          </p:cNvPr>
          <p:cNvSpPr txBox="1"/>
          <p:nvPr/>
        </p:nvSpPr>
        <p:spPr>
          <a:xfrm>
            <a:off x="2393275" y="2578967"/>
            <a:ext cx="5826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https://github.com/IgangdI/diplom</a:t>
            </a: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19FA74-44A8-4744-96E2-083B8088240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213" y="1688672"/>
            <a:ext cx="4724930" cy="457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55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ФОРМА «АВТОРИЗАЦИЯ»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Механизм контроля доступа к системе</a:t>
            </a:r>
          </a:p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Обязательные элементы формы: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Поле ввода логина (идентификатор пользователя)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Поле ввода пароля (с маскировкой символов)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Кнопка «Вход»</a:t>
            </a:r>
          </a:p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Сценарии работы: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Успешная авторизация — переход на главный экран системы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Ошибка в данных — вывод сообщения «Неверный логин или пароль»</a:t>
            </a:r>
          </a:p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Разграничение прав доступа: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Администратор ИС — полный доступ ко всем экранам, включая управление пользователями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Менеджер по продажам — доступ к складу, клиентам, заказам, отчётам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Сборщик — доступ к складу и личным заявкам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Кладовщик — управление складом и оформление заказов поставщику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57995B23-77F0-4D3C-9949-0D634CE506D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4221" y="2509146"/>
            <a:ext cx="5611227" cy="436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ФОРМА «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НОМЕНКЛАТУРА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Просмотр комплектующих в системе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Элементы формы: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Кнопки «Создать» и «Создать группу» для добавления новых комплектующих в систему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Список с фильтрацией по типу и поиском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Особенности отображения: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Для сборщика и кладовщика доступен только просмотр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Для менеджера и администратора — полный доступ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01326A79-522B-4A79-94C9-ED1E7E3DA6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076" y="2173116"/>
            <a:ext cx="7681744" cy="4797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ФОРМА «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КОНТРАГЕНТЫ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Управление списком контрагентов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Для сборщика: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Просмотр списка контрагентов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Для кладовщика, менеджера и администратора: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Список с кнопками действий: создание, редактирование, удаление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Поля добавления/редактирования: Наименование, ФИО, Код, Телефон, Почта, Тип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Общие функции: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Фильтрация и поиск по списку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officeArt object" descr="Рисунок 13">
            <a:extLst>
              <a:ext uri="{FF2B5EF4-FFF2-40B4-BE49-F238E27FC236}">
                <a16:creationId xmlns:a16="http://schemas.microsoft.com/office/drawing/2014/main" id="{54AFFA15-98C0-4765-A139-0707227316E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2250726"/>
            <a:ext cx="7963033" cy="475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ФОРМА «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ЗАКАЗ ПОСТАВЩИКУ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Документы о заказах комплектующих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Основные функции: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Просмотр списка заказов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Оформление нового заказа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Редактирование существующих заказов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Удаление заказов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Карточка заказа: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Подробная информация: поставщик, дата заказа/доставки, товары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rgbClr val="000000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officeArt object" descr="Рисунок 20">
            <a:extLst>
              <a:ext uri="{FF2B5EF4-FFF2-40B4-BE49-F238E27FC236}">
                <a16:creationId xmlns:a16="http://schemas.microsoft.com/office/drawing/2014/main" id="{5019271E-4BCD-4456-ABC5-326A29C3706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620" y="1962416"/>
            <a:ext cx="8280667" cy="48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fficeArt object" descr="Рисунок 19">
            <a:extLst>
              <a:ext uri="{FF2B5EF4-FFF2-40B4-BE49-F238E27FC236}">
                <a16:creationId xmlns:a16="http://schemas.microsoft.com/office/drawing/2014/main" id="{13FB5380-0C88-4BC7-870E-ACCA104C48C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620" y="4054458"/>
            <a:ext cx="8210678" cy="4635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ФОРМА «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ЗАКАЗ КЛИЕНТА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Оформление и обработка заказов на продажу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Основные функции: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Просмотр списка заказов (номер, дата, клиент, способ оплаты)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Создание нового заказа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Просмотр деталей заказа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Печатные формы: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Счёт на оплату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Доступ: только для менеджеров и администратора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fficeArt object" descr="Рисунок 24">
            <a:extLst>
              <a:ext uri="{FF2B5EF4-FFF2-40B4-BE49-F238E27FC236}">
                <a16:creationId xmlns:a16="http://schemas.microsoft.com/office/drawing/2014/main" id="{1E0D3FC4-0E0A-463F-884D-674A4838140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747" y="1093193"/>
            <a:ext cx="8232448" cy="4854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fficeArt object" descr="Рисунок 25">
            <a:extLst>
              <a:ext uri="{FF2B5EF4-FFF2-40B4-BE49-F238E27FC236}">
                <a16:creationId xmlns:a16="http://schemas.microsoft.com/office/drawing/2014/main" id="{F0087EAB-A2A0-4EB9-B4A7-8E9999EE715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747" y="3101043"/>
            <a:ext cx="8100888" cy="4734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ФОРМА «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ОТЧЕТЫ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Формирование аналитических отчётов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Три вкладки с отчётами: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 Затраты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Просмотр сколько было потрачено на закупку товара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Возможность просмотра за конкретные периоды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 Продажи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Просмотр сколько было заработано на продажах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 Складской учет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Отображает количество комплектующих на складе</a:t>
            </a:r>
          </a:p>
        </p:txBody>
      </p:sp>
      <p:pic>
        <p:nvPicPr>
          <p:cNvPr id="6" name="officeArt object" descr="Рисунок 38">
            <a:extLst>
              <a:ext uri="{FF2B5EF4-FFF2-40B4-BE49-F238E27FC236}">
                <a16:creationId xmlns:a16="http://schemas.microsoft.com/office/drawing/2014/main" id="{B488145F-B96A-4CDC-8918-B2E793C9C3F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9689" y="1539378"/>
            <a:ext cx="2229613" cy="1997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fficeArt object" descr="Рисунок 40">
            <a:extLst>
              <a:ext uri="{FF2B5EF4-FFF2-40B4-BE49-F238E27FC236}">
                <a16:creationId xmlns:a16="http://schemas.microsoft.com/office/drawing/2014/main" id="{686D71F3-7D21-48BC-A09C-0E95890B5F9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704" y="3918343"/>
            <a:ext cx="7903354" cy="4078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ЗАКЛЮЧЕНИЕ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14224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 рамках дипломного проекта разработана информационная система для комплексной автоматизации деятельности компьютерного магазина.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Реализовано в системе (1С:Предприятие):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Формы: «Авторизация», «Номенклатура», «Контрагенты», «Заказ поставщику», «Заказ клиента», «Отчёты»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Роли пользователей: Администратор ИС, Менеджер по продажам, Сборщик, Кладовщик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Управление каталогом товаров и остатками на складе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Работа с клиентской базой и поставщиками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Формирование заказов поставщикам и заказов клиентов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Формирование отчётности по продажам, затратам и складскому учёту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Разграничение прав доступа в зависимости от роли пользователя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Использование платформы 1С:Предприятие обеспечивает: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Единую базу данных для всех подразделений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Встроенные механизмы компоновки данных для отчётов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Возможность дальнейшего наращивания функциональности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Многопользовательский режим работы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3000" y="355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СПАСИБО ЗА ВНИМАНИЕ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1470</Words>
  <Application>Microsoft Office PowerPoint</Application>
  <PresentationFormat>Произвольный</PresentationFormat>
  <Paragraphs>213</Paragraphs>
  <Slides>22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Times New Roman</vt:lpstr>
      <vt:lpstr>Calibri</vt:lpstr>
      <vt:lpstr>Aptos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«Сервис аренды спортивного инвентаря»</dc:title>
  <dc:subject>Разработка информационной системы «Сервис аренды спортивного инвентаря»</dc:subject>
  <dc:creator>Kimi</dc:creator>
  <cp:lastModifiedBy>Дмитрий Гришин</cp:lastModifiedBy>
  <cp:revision>40</cp:revision>
  <dcterms:created xsi:type="dcterms:W3CDTF">2026-06-10T10:43:57Z</dcterms:created>
  <dcterms:modified xsi:type="dcterms:W3CDTF">2026-06-20T02:37:51Z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{"Label":"Разработка информационной системы «Сервис аренды спортивного инвентаря»","ContentProducer":"001191110108MACG2KBH8F10000","ProduceID":"19eb11d8-45b2-873b-8000-00009c67ffc0","ReservedCode1":"","ContentPropagator":"001191110108MACG2KBH8F20000","PropagateID":"19eb11d8-45b2-873b-8000-00009c67ffc0","ReservedCode2":""}</vt:lpwstr>
  </property>
</Properties>
</file>